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officeDocument/2006/presentationml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Theme1" Type="http://schemas.openxmlformats.org/officeDocument/2006/relationships/theme" Target="theme/theme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  <Relationship Id="rIdSlide11" Type="http://schemas.openxmlformats.org/officeDocument/2006/relationships/slide" Target="slides/slide11.xml"/>
  <Relationship Id="rIdSlide12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officeDocument/2006/presentationml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Theme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officeDocument/2006/presentationml">
  <p:cSld>
    <p:bg>
      <p:bgRef idx="1">
        <a:schemeClr val="lt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D25"/>
          </a:solidFill>
        </p:spPr>
      </p:sp>
      <p:sp>
        <p:nvSpPr>
          <p:cNvPr id="3" name="Gold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" name="CoverTag"/>
          <p:cNvSpPr/>
          <p:nvPr/>
        </p:nvSpPr>
        <p:spPr>
          <a:xfrm>
            <a:off x="3000000" y="800000"/>
            <a:ext cx="6192000" cy="450000"/>
          </a:xfrm>
          <a:prstGeom prst="roundRect">
            <a:avLst>
              <a:gd name="adj" fmla="val 25000"/>
            </a:avLst>
          </a:prstGeom>
          <a:solidFill>
            <a:srgbClr val="00361A"/>
          </a:solidFill>
          <a:ln w="12700">
            <a:solidFill>
              <a:srgbClr val="D4AF37"/>
            </a:solidFill>
          </a:ln>
        </p:spPr>
        <p:txBody>
          <a:bodyPr rtlCol="1" anchor="ctr"/>
          <a:p>
            <a:pPr algn="ctr" rtl="1"/>
            <a:r>
              <a:rPr lang="ar-SA" sz="1300" b="1">
                <a:solidFill>
                  <a:srgbClr val="D4AF37"/>
                </a:solidFill>
              </a:rPr>
              <a:t>رؤية 2030 · التحول الرقمي والذكاء الاصطناعي السيادي</a:t>
            </a:r>
          </a:p>
        </p:txBody>
      </p:sp>
      <p:sp>
        <p:nvSpPr>
          <p:cNvPr id="5" name="CoverTitle"/>
          <p:cNvSpPr/>
          <p:nvPr/>
        </p:nvSpPr>
        <p:spPr>
          <a:xfrm>
            <a:off x="800000" y="1500000"/>
            <a:ext cx="10592000" cy="1200000"/>
          </a:xfrm>
          <a:prstGeom prst="rect">
            <a:avLst/>
          </a:prstGeom>
        </p:spPr>
        <p:txBody>
          <a:bodyPr rtlCol="1" anchor="ctr"/>
          <a:p>
            <a:pPr algn="ctr" rtl="1"/>
            <a:r>
              <a:rPr lang="ar-SA" sz="3200" b="1">
                <a:solidFill>
                  <a:srgbClr val="FFFFFF"/>
                </a:solidFill>
              </a:rPr>
              <a:t>المنصة الوطنية للوكلاء الأذكياء</a:t>
            </a:r>
          </a:p>
        </p:txBody>
      </p:sp>
      <p:sp>
        <p:nvSpPr>
          <p:cNvPr id="6" name="CoverSubtitle"/>
          <p:cNvSpPr/>
          <p:nvPr/>
        </p:nvSpPr>
        <p:spPr>
          <a:xfrm>
            <a:off x="1000000" y="2700000"/>
            <a:ext cx="10192000" cy="800000"/>
          </a:xfrm>
          <a:prstGeom prst="rect">
            <a:avLst/>
          </a:prstGeom>
        </p:spPr>
        <p:txBody>
          <a:bodyPr rtlCol="1" anchor="ctr"/>
          <a:p>
            <a:pPr algn="ctr" rtl="1"/>
            <a:r>
              <a:rPr lang="ar-SA" sz="1600">
                <a:solidFill>
                  <a:srgbClr val="C5E0CF"/>
                </a:solidFill>
              </a:rPr>
              <a:t>تحويل بوابات الوزارات، الجامعات، والشركات إلى تجارب تفاعلية ذكية وفورية</a:t>
            </a:r>
          </a:p>
        </p:txBody>
      </p:sp>
      <p:sp>
        <p:nvSpPr>
          <p:cNvPr id="7" name="CoverCard0"/>
          <p:cNvSpPr/>
          <p:nvPr/>
        </p:nvSpPr>
        <p:spPr>
          <a:xfrm>
            <a:off x="1000000" y="3800000"/>
            <a:ext cx="2400000" cy="2000000"/>
          </a:xfrm>
          <a:prstGeom prst="roundRect">
            <a:avLst>
              <a:gd name="adj" fmla="val 15000"/>
            </a:avLst>
          </a:prstGeom>
          <a:solidFill>
            <a:srgbClr val="005A2B"/>
          </a:solidFill>
          <a:ln w="12700">
            <a:solidFill>
              <a:srgbClr val="0A8244"/>
            </a:solidFill>
          </a:ln>
        </p:spPr>
        <p:txBody>
          <a:bodyPr rtlCol="1" anchor="ctr"/>
          <a:p>
            <a:pPr algn="ctr" rtl="1"/>
            <a:r>
              <a:rPr lang="ar-SA" sz="1300" b="1">
                <a:solidFill>
                  <a:srgbClr val="FFFFFF"/>
                </a:solidFill>
              </a:rPr>
              <a:t>🏛️ الوزارات والجهات الحكومية (GovTech)</a:t>
            </a:r>
          </a:p>
        </p:txBody>
      </p:sp>
      <p:sp>
        <p:nvSpPr>
          <p:cNvPr id="8" name="CoverCard1"/>
          <p:cNvSpPr/>
          <p:nvPr/>
        </p:nvSpPr>
        <p:spPr>
          <a:xfrm>
            <a:off x="3600000" y="3800000"/>
            <a:ext cx="2400000" cy="2000000"/>
          </a:xfrm>
          <a:prstGeom prst="roundRect">
            <a:avLst>
              <a:gd name="adj" fmla="val 15000"/>
            </a:avLst>
          </a:prstGeom>
          <a:solidFill>
            <a:srgbClr val="005A2B"/>
          </a:solidFill>
          <a:ln w="12700">
            <a:solidFill>
              <a:srgbClr val="0A8244"/>
            </a:solidFill>
          </a:ln>
        </p:spPr>
        <p:txBody>
          <a:bodyPr rtlCol="1" anchor="ctr"/>
          <a:p>
            <a:pPr algn="ctr" rtl="1"/>
            <a:r>
              <a:rPr lang="ar-SA" sz="1300" b="1">
                <a:solidFill>
                  <a:srgbClr val="FFFFFF"/>
                </a:solidFill>
              </a:rPr>
              <a:t>🎓 الجامعات والمؤسسات الأكاديمية (EdTech)</a:t>
            </a:r>
          </a:p>
        </p:txBody>
      </p:sp>
      <p:sp>
        <p:nvSpPr>
          <p:cNvPr id="9" name="CoverCard2"/>
          <p:cNvSpPr/>
          <p:nvPr/>
        </p:nvSpPr>
        <p:spPr>
          <a:xfrm>
            <a:off x="6200000" y="3800000"/>
            <a:ext cx="2400000" cy="2000000"/>
          </a:xfrm>
          <a:prstGeom prst="roundRect">
            <a:avLst>
              <a:gd name="adj" fmla="val 15000"/>
            </a:avLst>
          </a:prstGeom>
          <a:solidFill>
            <a:srgbClr val="005A2B"/>
          </a:solidFill>
          <a:ln w="12700">
            <a:solidFill>
              <a:srgbClr val="0A8244"/>
            </a:solidFill>
          </a:ln>
        </p:spPr>
        <p:txBody>
          <a:bodyPr rtlCol="1" anchor="ctr"/>
          <a:p>
            <a:pPr algn="ctr" rtl="1"/>
            <a:r>
              <a:rPr lang="ar-SA" sz="1300" b="1">
                <a:solidFill>
                  <a:srgbClr val="FFFFFF"/>
                </a:solidFill>
              </a:rPr>
              <a:t>🏢 الشركات الكبرى والقطاع المالي (Enterprise &amp; FinTech)</a:t>
            </a:r>
          </a:p>
        </p:txBody>
      </p:sp>
      <p:sp>
        <p:nvSpPr>
          <p:cNvPr id="10" name="CoverCard3"/>
          <p:cNvSpPr/>
          <p:nvPr/>
        </p:nvSpPr>
        <p:spPr>
          <a:xfrm>
            <a:off x="8800000" y="3800000"/>
            <a:ext cx="2400000" cy="2000000"/>
          </a:xfrm>
          <a:prstGeom prst="roundRect">
            <a:avLst>
              <a:gd name="adj" fmla="val 15000"/>
            </a:avLst>
          </a:prstGeom>
          <a:solidFill>
            <a:srgbClr val="005A2B"/>
          </a:solidFill>
          <a:ln w="12700">
            <a:solidFill>
              <a:srgbClr val="0A8244"/>
            </a:solidFill>
          </a:ln>
        </p:spPr>
        <p:txBody>
          <a:bodyPr rtlCol="1" anchor="ctr"/>
          <a:p>
            <a:pPr algn="ctr" rtl="1"/>
            <a:r>
              <a:rPr lang="ar-SA" sz="1300" b="1">
                <a:solidFill>
                  <a:srgbClr val="FFFFFF"/>
                </a:solidFill>
              </a:rPr>
              <a:t>🛍️ المتاجر والقطاع التجاري (E-Commerce &amp; Retail)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6"/>
          </a:solidFill>
        </p:spPr>
      </p:sp>
      <p:sp>
        <p:nvSpPr>
          <p:cNvPr id="3" name="HeaderBadge"/>
          <p:cNvSpPr/>
          <p:nvPr/>
        </p:nvSpPr>
        <p:spPr>
          <a:xfrm>
            <a:off x="750000" y="400000"/>
            <a:ext cx="4500000" cy="350000"/>
          </a:xfrm>
          <a:prstGeom prst="roundRect">
            <a:avLst>
              <a:gd name="adj" fmla="val 25000"/>
            </a:avLst>
          </a:prstGeom>
          <a:solidFill>
            <a:srgbClr val="EAF5EE"/>
          </a:solidFill>
          <a:ln w="9525">
            <a:solidFill>
              <a:srgbClr val="006C35"/>
            </a:solidFill>
          </a:ln>
        </p:spPr>
        <p:txBody>
          <a:bodyPr rtlCol="1" anchor="ctr"/>
          <a:p>
            <a:pPr algn="ctr" rtl="1"/>
            <a:r>
              <a:rPr lang="ar-SA" sz="1100" b="1">
                <a:solidFill>
                  <a:srgbClr val="006C35"/>
                </a:solidFill>
              </a:rPr>
              <a:t>التحدي في السوق السعودي</a:t>
            </a:r>
          </a:p>
        </p:txBody>
      </p:sp>
      <p:sp>
        <p:nvSpPr>
          <p:cNvPr id="4" name="SlideTitle"/>
          <p:cNvSpPr/>
          <p:nvPr/>
        </p:nvSpPr>
        <p:spPr>
          <a:xfrm>
            <a:off x="750000" y="850000"/>
            <a:ext cx="10692000" cy="65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2000" b="1">
                <a:solidFill>
                  <a:srgbClr val="042210"/>
                </a:solidFill>
              </a:rPr>
              <a:t>المشكلة: فجوة التفاعل والوصول للمعلومة في المنصات الرقمية</a:t>
            </a:r>
          </a:p>
        </p:txBody>
      </p:sp>
      <p:sp>
        <p:nvSpPr>
          <p:cNvPr id="5" name="ContentCard0"/>
          <p:cNvSpPr/>
          <p:nvPr/>
        </p:nvSpPr>
        <p:spPr>
          <a:xfrm>
            <a:off x="7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🏛️ تشتت المستفيدين: المواطن والباحث والعميل يضيعون بين مئات اللوائح والروابط والـ PDFs والأنظمة المعقدة.</a:t>
            </a:r>
          </a:p>
        </p:txBody>
      </p:sp>
      <p:sp>
        <p:nvSpPr>
          <p:cNvPr id="6" name="ContentCard1"/>
          <p:cNvSpPr/>
          <p:nvPr/>
        </p:nvSpPr>
        <p:spPr>
          <a:xfrm>
            <a:off x="61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📞 تكلفة باهظة لمراكز الاتصال: مئات الملايين تُنفق سنوياً على مراكز الدعم مع أوقات انتظار طويلة وتأخر في الرد.</a:t>
            </a:r>
          </a:p>
        </p:txBody>
      </p:sp>
      <p:sp>
        <p:nvSpPr>
          <p:cNvPr id="7" name="ContentCard2"/>
          <p:cNvSpPr/>
          <p:nvPr/>
        </p:nvSpPr>
        <p:spPr>
          <a:xfrm>
            <a:off x="7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🤖 غباء الشات بوت التقليدي: البوتات القديمة شجرية جامدة، تفشل في فهم صياغة المستفيد واللهجات والأنظمة السعودية.</a:t>
            </a:r>
          </a:p>
        </p:txBody>
      </p:sp>
      <p:sp>
        <p:nvSpPr>
          <p:cNvPr id="8" name="ContentCard3"/>
          <p:cNvSpPr/>
          <p:nvPr/>
        </p:nvSpPr>
        <p:spPr>
          <a:xfrm>
            <a:off x="61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🔒 تحديات السيادة البيانية: الحلول الأجنبية تفتقر للامتثال لنظام حماية البيانات الشخصية السعودي (PDPL).</a:t>
            </a:r>
          </a:p>
        </p:txBody>
      </p:sp>
      <p:sp>
        <p:nvSpPr>
          <p:cNvPr id="9" name="FooterLine"/>
          <p:cNvSpPr/>
          <p:nvPr/>
        </p:nvSpPr>
        <p:spPr>
          <a:xfrm>
            <a:off x="750000" y="6350000"/>
            <a:ext cx="10692000" cy="20000"/>
          </a:xfrm>
          <a:prstGeom prst="rect">
            <a:avLst/>
          </a:prstGeom>
          <a:solidFill>
            <a:srgbClr val="D4E8DC"/>
          </a:solidFill>
        </p:spPr>
      </p:sp>
      <p:sp>
        <p:nvSpPr>
          <p:cNvPr id="10" name="FooterText"/>
          <p:cNvSpPr/>
          <p:nvPr/>
        </p:nvSpPr>
        <p:spPr>
          <a:xfrm>
            <a:off x="750000" y="6400000"/>
            <a:ext cx="8000000" cy="30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950">
                <a:solidFill>
                  <a:srgbClr val="4D7A60"/>
                </a:solidFill>
              </a:rPr>
              <a:t>عرض استثماري سري — المنصة الوطنية للوكلاء الأذكياء</a:t>
            </a:r>
          </a:p>
        </p:txBody>
      </p:sp>
      <p:sp>
        <p:nvSpPr>
          <p:cNvPr id="11" name="SlideNum"/>
          <p:cNvSpPr/>
          <p:nvPr/>
        </p:nvSpPr>
        <p:spPr>
          <a:xfrm>
            <a:off x="10000000" y="6400000"/>
            <a:ext cx="1442000" cy="300000"/>
          </a:xfrm>
          <a:prstGeom prst="rect">
            <a:avLst/>
          </a:prstGeom>
        </p:spPr>
        <p:txBody>
          <a:bodyPr rtlCol="1" anchor="ctr"/>
          <a:p>
            <a:pPr algn="l" rtl="0"/>
            <a:r>
              <a:rPr lang="ar-SA" sz="950" b="1">
                <a:solidFill>
                  <a:srgbClr val="006C35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6"/>
          </a:solidFill>
        </p:spPr>
      </p:sp>
      <p:sp>
        <p:nvSpPr>
          <p:cNvPr id="3" name="HeaderBadge"/>
          <p:cNvSpPr/>
          <p:nvPr/>
        </p:nvSpPr>
        <p:spPr>
          <a:xfrm>
            <a:off x="750000" y="400000"/>
            <a:ext cx="4500000" cy="350000"/>
          </a:xfrm>
          <a:prstGeom prst="roundRect">
            <a:avLst>
              <a:gd name="adj" fmla="val 25000"/>
            </a:avLst>
          </a:prstGeom>
          <a:solidFill>
            <a:srgbClr val="EAF5EE"/>
          </a:solidFill>
          <a:ln w="9525">
            <a:solidFill>
              <a:srgbClr val="006C35"/>
            </a:solidFill>
          </a:ln>
        </p:spPr>
        <p:txBody>
          <a:bodyPr rtlCol="1" anchor="ctr"/>
          <a:p>
            <a:pPr algn="ctr" rtl="1"/>
            <a:r>
              <a:rPr lang="ar-SA" sz="1100" b="1">
                <a:solidFill>
                  <a:srgbClr val="006C35"/>
                </a:solidFill>
              </a:rPr>
              <a:t>القيمة المضافة والابتكار</a:t>
            </a:r>
          </a:p>
        </p:txBody>
      </p:sp>
      <p:sp>
        <p:nvSpPr>
          <p:cNvPr id="4" name="SlideTitle"/>
          <p:cNvSpPr/>
          <p:nvPr/>
        </p:nvSpPr>
        <p:spPr>
          <a:xfrm>
            <a:off x="750000" y="850000"/>
            <a:ext cx="10692000" cy="65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2000" b="1">
                <a:solidFill>
                  <a:srgbClr val="042210"/>
                </a:solidFill>
              </a:rPr>
              <a:t>الحل: وكيل ذكاء اصطناعي سيادي وفائق التخصيص لكل جهة</a:t>
            </a:r>
          </a:p>
        </p:txBody>
      </p:sp>
      <p:sp>
        <p:nvSpPr>
          <p:cNvPr id="5" name="ContentCard0"/>
          <p:cNvSpPr/>
          <p:nvPr/>
        </p:nvSpPr>
        <p:spPr>
          <a:xfrm>
            <a:off x="7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⚡ تعلّم فوري شامل: قراءة وفهرسة البوابة الرقمية، اللوائح، الأنظمة التنفيذية، وأدلة القبول تلقائياً في دقائق.</a:t>
            </a:r>
          </a:p>
        </p:txBody>
      </p:sp>
      <p:sp>
        <p:nvSpPr>
          <p:cNvPr id="6" name="ContentCard1"/>
          <p:cNvSpPr/>
          <p:nvPr/>
        </p:nvSpPr>
        <p:spPr>
          <a:xfrm>
            <a:off x="61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🇸🇦 فهم عميق للهجة والسياق: محادثة طبيعية تدعم العربية الفصحى واللهجات المحلية والمصطلحات الرسمية.</a:t>
            </a:r>
          </a:p>
        </p:txBody>
      </p:sp>
      <p:sp>
        <p:nvSpPr>
          <p:cNvPr id="7" name="ContentCard2"/>
          <p:cNvSpPr/>
          <p:nvPr/>
        </p:nvSpPr>
        <p:spPr>
          <a:xfrm>
            <a:off x="7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👁️ إدراك الشاشة الحية (Live Context): المساعد يرى الصفحة والنموذج الذي يقف عليه المستخدم ويقوده خطوة بخطوة.</a:t>
            </a:r>
          </a:p>
        </p:txBody>
      </p:sp>
      <p:sp>
        <p:nvSpPr>
          <p:cNvPr id="8" name="ContentCard3"/>
          <p:cNvSpPr/>
          <p:nvPr/>
        </p:nvSpPr>
        <p:spPr>
          <a:xfrm>
            <a:off x="61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🛡️ تحكم سيادي بالمعرفة: إمكانية استبعاد أو إخفاء أي محتوى حساس بنقرة زر، مع امتثال كامل للسيادة البيانية.</a:t>
            </a:r>
          </a:p>
        </p:txBody>
      </p:sp>
      <p:sp>
        <p:nvSpPr>
          <p:cNvPr id="9" name="FooterLine"/>
          <p:cNvSpPr/>
          <p:nvPr/>
        </p:nvSpPr>
        <p:spPr>
          <a:xfrm>
            <a:off x="750000" y="6350000"/>
            <a:ext cx="10692000" cy="20000"/>
          </a:xfrm>
          <a:prstGeom prst="rect">
            <a:avLst/>
          </a:prstGeom>
          <a:solidFill>
            <a:srgbClr val="D4E8DC"/>
          </a:solidFill>
        </p:spPr>
      </p:sp>
      <p:sp>
        <p:nvSpPr>
          <p:cNvPr id="10" name="FooterText"/>
          <p:cNvSpPr/>
          <p:nvPr/>
        </p:nvSpPr>
        <p:spPr>
          <a:xfrm>
            <a:off x="750000" y="6400000"/>
            <a:ext cx="8000000" cy="30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950">
                <a:solidFill>
                  <a:srgbClr val="4D7A60"/>
                </a:solidFill>
              </a:rPr>
              <a:t>عرض استثماري سري — المنصة الوطنية للوكلاء الأذكياء</a:t>
            </a:r>
          </a:p>
        </p:txBody>
      </p:sp>
      <p:sp>
        <p:nvSpPr>
          <p:cNvPr id="11" name="SlideNum"/>
          <p:cNvSpPr/>
          <p:nvPr/>
        </p:nvSpPr>
        <p:spPr>
          <a:xfrm>
            <a:off x="10000000" y="6400000"/>
            <a:ext cx="1442000" cy="300000"/>
          </a:xfrm>
          <a:prstGeom prst="rect">
            <a:avLst/>
          </a:prstGeom>
        </p:spPr>
        <p:txBody>
          <a:bodyPr rtlCol="1" anchor="ctr"/>
          <a:p>
            <a:pPr algn="l" rtl="0"/>
            <a:r>
              <a:rPr lang="ar-SA" sz="950" b="1">
                <a:solidFill>
                  <a:srgbClr val="006C35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6"/>
          </a:solidFill>
        </p:spPr>
      </p:sp>
      <p:sp>
        <p:nvSpPr>
          <p:cNvPr id="3" name="HeaderBadge"/>
          <p:cNvSpPr/>
          <p:nvPr/>
        </p:nvSpPr>
        <p:spPr>
          <a:xfrm>
            <a:off x="750000" y="400000"/>
            <a:ext cx="4500000" cy="350000"/>
          </a:xfrm>
          <a:prstGeom prst="roundRect">
            <a:avLst>
              <a:gd name="adj" fmla="val 25000"/>
            </a:avLst>
          </a:prstGeom>
          <a:solidFill>
            <a:srgbClr val="EAF5EE"/>
          </a:solidFill>
          <a:ln w="9525">
            <a:solidFill>
              <a:srgbClr val="006C35"/>
            </a:solidFill>
          </a:ln>
        </p:spPr>
        <p:txBody>
          <a:bodyPr rtlCol="1" anchor="ctr"/>
          <a:p>
            <a:pPr algn="ctr" rtl="1"/>
            <a:r>
              <a:rPr lang="ar-SA" sz="1100" b="1">
                <a:solidFill>
                  <a:srgbClr val="006C35"/>
                </a:solidFill>
              </a:rPr>
              <a:t>القطاعات والجهات المستهدفة</a:t>
            </a:r>
          </a:p>
        </p:txBody>
      </p:sp>
      <p:sp>
        <p:nvSpPr>
          <p:cNvPr id="4" name="SlideTitle"/>
          <p:cNvSpPr/>
          <p:nvPr/>
        </p:nvSpPr>
        <p:spPr>
          <a:xfrm>
            <a:off x="750000" y="850000"/>
            <a:ext cx="10692000" cy="65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2000" b="1">
                <a:solidFill>
                  <a:srgbClr val="042210"/>
                </a:solidFill>
              </a:rPr>
              <a:t>تطبيقات المنصة عبر مختلف القطاعات الوطنية</a:t>
            </a:r>
          </a:p>
        </p:txBody>
      </p:sp>
      <p:sp>
        <p:nvSpPr>
          <p:cNvPr id="5" name="ContentCard0"/>
          <p:cNvSpPr/>
          <p:nvPr/>
        </p:nvSpPr>
        <p:spPr>
          <a:xfrm>
            <a:off x="7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🏛️ الوزارات والجهات الحكومية: شرح شروط التراخيص، الأنظمة واللوائح، وتوجيه المستفيد لصفحة الخدمة فوراً.</a:t>
            </a:r>
          </a:p>
        </p:txBody>
      </p:sp>
      <p:sp>
        <p:nvSpPr>
          <p:cNvPr id="6" name="ContentCard1"/>
          <p:cNvSpPr/>
          <p:nvPr/>
        </p:nvSpPr>
        <p:spPr>
          <a:xfrm>
            <a:off x="61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🎓 الجامعات والمراكز الأكاديمية: إرشاد آلاف الطلاب حول نسب القبول، المسارات، الخطط، ولوائح الابتعاث 24/7.</a:t>
            </a:r>
          </a:p>
        </p:txBody>
      </p:sp>
      <p:sp>
        <p:nvSpPr>
          <p:cNvPr id="7" name="ContentCard2"/>
          <p:cNvSpPr/>
          <p:nvPr/>
        </p:nvSpPr>
        <p:spPr>
          <a:xfrm>
            <a:off x="7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🏢 الشركات الكبرى والبنوك: مقارنة برامج التمويل، بطاقات الائتمان، وثائق التأمين، وتأهيل طلبات المبيعات.</a:t>
            </a:r>
          </a:p>
        </p:txBody>
      </p:sp>
      <p:sp>
        <p:nvSpPr>
          <p:cNvPr id="8" name="ContentCard3"/>
          <p:cNvSpPr/>
          <p:nvPr/>
        </p:nvSpPr>
        <p:spPr>
          <a:xfrm>
            <a:off x="61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🏝️ المشروعات الكبرى والسياحة (نيوم، البحر الأحمر، العلا): إرشاد الزوار، حجز الفعاليات، وتقديم تجربة سياحية متكاملة.</a:t>
            </a:r>
          </a:p>
        </p:txBody>
      </p:sp>
      <p:sp>
        <p:nvSpPr>
          <p:cNvPr id="9" name="FooterLine"/>
          <p:cNvSpPr/>
          <p:nvPr/>
        </p:nvSpPr>
        <p:spPr>
          <a:xfrm>
            <a:off x="750000" y="6350000"/>
            <a:ext cx="10692000" cy="20000"/>
          </a:xfrm>
          <a:prstGeom prst="rect">
            <a:avLst/>
          </a:prstGeom>
          <a:solidFill>
            <a:srgbClr val="D4E8DC"/>
          </a:solidFill>
        </p:spPr>
      </p:sp>
      <p:sp>
        <p:nvSpPr>
          <p:cNvPr id="10" name="FooterText"/>
          <p:cNvSpPr/>
          <p:nvPr/>
        </p:nvSpPr>
        <p:spPr>
          <a:xfrm>
            <a:off x="750000" y="6400000"/>
            <a:ext cx="8000000" cy="30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950">
                <a:solidFill>
                  <a:srgbClr val="4D7A60"/>
                </a:solidFill>
              </a:rPr>
              <a:t>عرض استثماري سري — المنصة الوطنية للوكلاء الأذكياء</a:t>
            </a:r>
          </a:p>
        </p:txBody>
      </p:sp>
      <p:sp>
        <p:nvSpPr>
          <p:cNvPr id="11" name="SlideNum"/>
          <p:cNvSpPr/>
          <p:nvPr/>
        </p:nvSpPr>
        <p:spPr>
          <a:xfrm>
            <a:off x="10000000" y="6400000"/>
            <a:ext cx="1442000" cy="300000"/>
          </a:xfrm>
          <a:prstGeom prst="rect">
            <a:avLst/>
          </a:prstGeom>
        </p:spPr>
        <p:txBody>
          <a:bodyPr rtlCol="1" anchor="ctr"/>
          <a:p>
            <a:pPr algn="l" rtl="0"/>
            <a:r>
              <a:rPr lang="ar-SA" sz="950" b="1">
                <a:solidFill>
                  <a:srgbClr val="006C35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6"/>
          </a:solidFill>
        </p:spPr>
      </p:sp>
      <p:sp>
        <p:nvSpPr>
          <p:cNvPr id="3" name="HeaderBadge"/>
          <p:cNvSpPr/>
          <p:nvPr/>
        </p:nvSpPr>
        <p:spPr>
          <a:xfrm>
            <a:off x="750000" y="400000"/>
            <a:ext cx="4500000" cy="350000"/>
          </a:xfrm>
          <a:prstGeom prst="roundRect">
            <a:avLst>
              <a:gd name="adj" fmla="val 25000"/>
            </a:avLst>
          </a:prstGeom>
          <a:solidFill>
            <a:srgbClr val="EAF5EE"/>
          </a:solidFill>
          <a:ln w="9525">
            <a:solidFill>
              <a:srgbClr val="006C35"/>
            </a:solidFill>
          </a:ln>
        </p:spPr>
        <p:txBody>
          <a:bodyPr rtlCol="1" anchor="ctr"/>
          <a:p>
            <a:pPr algn="ctr" rtl="1"/>
            <a:r>
              <a:rPr lang="ar-SA" sz="1100" b="1">
                <a:solidFill>
                  <a:srgbClr val="006C35"/>
                </a:solidFill>
              </a:rPr>
              <a:t>الهندسة التقنية المتقدمة</a:t>
            </a:r>
          </a:p>
        </p:txBody>
      </p:sp>
      <p:sp>
        <p:nvSpPr>
          <p:cNvPr id="4" name="SlideTitle"/>
          <p:cNvSpPr/>
          <p:nvPr/>
        </p:nvSpPr>
        <p:spPr>
          <a:xfrm>
            <a:off x="750000" y="850000"/>
            <a:ext cx="10692000" cy="65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2000" b="1">
                <a:solidFill>
                  <a:srgbClr val="042210"/>
                </a:solidFill>
              </a:rPr>
              <a:t>البنية التقنية: محرك RAG فائق الدقة وبوابة نماذج سيادية</a:t>
            </a:r>
          </a:p>
        </p:txBody>
      </p:sp>
      <p:sp>
        <p:nvSpPr>
          <p:cNvPr id="5" name="ContentCard0"/>
          <p:cNvSpPr/>
          <p:nvPr/>
        </p:nvSpPr>
        <p:spPr>
          <a:xfrm>
            <a:off x="7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1. محرك الزحف المتصفحي (Headless Crawler): قراءة البوابات الضخمة وتطبيقات SPA / React / Next.js المعقدة.</a:t>
            </a:r>
          </a:p>
        </p:txBody>
      </p:sp>
      <p:sp>
        <p:nvSpPr>
          <p:cNvPr id="6" name="ContentCard1"/>
          <p:cNvSpPr/>
          <p:nvPr/>
        </p:nvSpPr>
        <p:spPr>
          <a:xfrm>
            <a:off x="61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2. التجزئة الدلالية (Semantic Chunking): تفكيك الوثائق والـ PDFs والبيانات إلى مقاطع معرفية دقيقة.</a:t>
            </a:r>
          </a:p>
        </p:txBody>
      </p:sp>
      <p:sp>
        <p:nvSpPr>
          <p:cNvPr id="7" name="ContentCard2"/>
          <p:cNvSpPr/>
          <p:nvPr/>
        </p:nvSpPr>
        <p:spPr>
          <a:xfrm>
            <a:off x="7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3. الاسترجاع الهجين المتطابق (RAG): مطابقة الاستفسارات مع أدق النصوص لمنع الهلوسة وضمان دقة 100%.</a:t>
            </a:r>
          </a:p>
        </p:txBody>
      </p:sp>
      <p:sp>
        <p:nvSpPr>
          <p:cNvPr id="8" name="ContentCard3"/>
          <p:cNvSpPr/>
          <p:nvPr/>
        </p:nvSpPr>
        <p:spPr>
          <a:xfrm>
            <a:off x="61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4. التوجيه التفاعلي المباشر (Actionable AI): أزرار فورية تقود المستفيد مباشرة لصفحة إتمام المعاملة.</a:t>
            </a:r>
          </a:p>
        </p:txBody>
      </p:sp>
      <p:sp>
        <p:nvSpPr>
          <p:cNvPr id="9" name="FooterLine"/>
          <p:cNvSpPr/>
          <p:nvPr/>
        </p:nvSpPr>
        <p:spPr>
          <a:xfrm>
            <a:off x="750000" y="6350000"/>
            <a:ext cx="10692000" cy="20000"/>
          </a:xfrm>
          <a:prstGeom prst="rect">
            <a:avLst/>
          </a:prstGeom>
          <a:solidFill>
            <a:srgbClr val="D4E8DC"/>
          </a:solidFill>
        </p:spPr>
      </p:sp>
      <p:sp>
        <p:nvSpPr>
          <p:cNvPr id="10" name="FooterText"/>
          <p:cNvSpPr/>
          <p:nvPr/>
        </p:nvSpPr>
        <p:spPr>
          <a:xfrm>
            <a:off x="750000" y="6400000"/>
            <a:ext cx="8000000" cy="30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950">
                <a:solidFill>
                  <a:srgbClr val="4D7A60"/>
                </a:solidFill>
              </a:rPr>
              <a:t>عرض استثماري سري — المنصة الوطنية للوكلاء الأذكياء</a:t>
            </a:r>
          </a:p>
        </p:txBody>
      </p:sp>
      <p:sp>
        <p:nvSpPr>
          <p:cNvPr id="11" name="SlideNum"/>
          <p:cNvSpPr/>
          <p:nvPr/>
        </p:nvSpPr>
        <p:spPr>
          <a:xfrm>
            <a:off x="10000000" y="6400000"/>
            <a:ext cx="1442000" cy="300000"/>
          </a:xfrm>
          <a:prstGeom prst="rect">
            <a:avLst/>
          </a:prstGeom>
        </p:spPr>
        <p:txBody>
          <a:bodyPr rtlCol="1" anchor="ctr"/>
          <a:p>
            <a:pPr algn="l" rtl="0"/>
            <a:r>
              <a:rPr lang="ar-SA" sz="950" b="1">
                <a:solidFill>
                  <a:srgbClr val="006C35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6"/>
          </a:solidFill>
        </p:spPr>
      </p:sp>
      <p:sp>
        <p:nvSpPr>
          <p:cNvPr id="3" name="HeaderBadge"/>
          <p:cNvSpPr/>
          <p:nvPr/>
        </p:nvSpPr>
        <p:spPr>
          <a:xfrm>
            <a:off x="750000" y="400000"/>
            <a:ext cx="4500000" cy="350000"/>
          </a:xfrm>
          <a:prstGeom prst="roundRect">
            <a:avLst>
              <a:gd name="adj" fmla="val 25000"/>
            </a:avLst>
          </a:prstGeom>
          <a:solidFill>
            <a:srgbClr val="EAF5EE"/>
          </a:solidFill>
          <a:ln w="9525">
            <a:solidFill>
              <a:srgbClr val="006C35"/>
            </a:solidFill>
          </a:ln>
        </p:spPr>
        <p:txBody>
          <a:bodyPr rtlCol="1" anchor="ctr"/>
          <a:p>
            <a:pPr algn="ctr" rtl="1"/>
            <a:r>
              <a:rPr lang="ar-SA" sz="1100" b="1">
                <a:solidFill>
                  <a:srgbClr val="006C35"/>
                </a:solidFill>
              </a:rPr>
              <a:t>الميزة التنافسية الحصرية</a:t>
            </a:r>
          </a:p>
        </p:txBody>
      </p:sp>
      <p:sp>
        <p:nvSpPr>
          <p:cNvPr id="4" name="SlideTitle"/>
          <p:cNvSpPr/>
          <p:nvPr/>
        </p:nvSpPr>
        <p:spPr>
          <a:xfrm>
            <a:off x="750000" y="850000"/>
            <a:ext cx="10692000" cy="65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2000" b="1">
                <a:solidFill>
                  <a:srgbClr val="042210"/>
                </a:solidFill>
              </a:rPr>
              <a:t>المقارنة التنافسية: لماذا نتفوق على كافة البدائل؟</a:t>
            </a:r>
          </a:p>
        </p:txBody>
      </p:sp>
      <p:sp>
        <p:nvSpPr>
          <p:cNvPr id="5" name="ContentCard0"/>
          <p:cNvSpPr/>
          <p:nvPr/>
        </p:nvSpPr>
        <p:spPr>
          <a:xfrm>
            <a:off x="750000" y="1650000"/>
            <a:ext cx="10692000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✓ الإعداد والتشغيل: دقائق معدودة بـ سطر كود واحد (مقابل أسابيع من البرمجة في البوتات القديمة).</a:t>
            </a:r>
          </a:p>
        </p:txBody>
      </p:sp>
      <p:sp>
        <p:nvSpPr>
          <p:cNvPr id="6" name="ContentCard1"/>
          <p:cNvSpPr/>
          <p:nvPr/>
        </p:nvSpPr>
        <p:spPr>
          <a:xfrm>
            <a:off x="750000" y="2570000"/>
            <a:ext cx="10692000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✓ الفهم اللغوي والتنظيمي: فهم فائق للسياق السعودي والأنظمة (مقابل ترجمة آلية ركيكة في الحلول الأجنبية).</a:t>
            </a:r>
          </a:p>
        </p:txBody>
      </p:sp>
      <p:sp>
        <p:nvSpPr>
          <p:cNvPr id="7" name="ContentCard2"/>
          <p:cNvSpPr/>
          <p:nvPr/>
        </p:nvSpPr>
        <p:spPr>
          <a:xfrm>
            <a:off x="750000" y="3490000"/>
            <a:ext cx="10692000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✓ قراءة الشاشة الحية: إدراك فوري لمكان وتصفح المستخدم (غير متوفر في أي منافس عالمي).</a:t>
            </a:r>
          </a:p>
        </p:txBody>
      </p:sp>
      <p:sp>
        <p:nvSpPr>
          <p:cNvPr id="8" name="ContentCard3"/>
          <p:cNvSpPr/>
          <p:nvPr/>
        </p:nvSpPr>
        <p:spPr>
          <a:xfrm>
            <a:off x="750000" y="4410000"/>
            <a:ext cx="10692000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✓ السيادة وحماية البيانات: استضافة محلية متوافقة مع نظام PDPL والجهات الحكومية والجامعات.</a:t>
            </a:r>
          </a:p>
        </p:txBody>
      </p:sp>
      <p:sp>
        <p:nvSpPr>
          <p:cNvPr id="9" name="ContentCard4"/>
          <p:cNvSpPr/>
          <p:nvPr/>
        </p:nvSpPr>
        <p:spPr>
          <a:xfrm>
            <a:off x="750000" y="5330000"/>
            <a:ext cx="10692000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✓ التحكم في الخصوصية: مفاتيح إخفاء واستبعاد فورية للمحتوى والملفات الحساسة.</a:t>
            </a:r>
          </a:p>
        </p:txBody>
      </p:sp>
      <p:sp>
        <p:nvSpPr>
          <p:cNvPr id="10" name="FooterLine"/>
          <p:cNvSpPr/>
          <p:nvPr/>
        </p:nvSpPr>
        <p:spPr>
          <a:xfrm>
            <a:off x="750000" y="6350000"/>
            <a:ext cx="10692000" cy="20000"/>
          </a:xfrm>
          <a:prstGeom prst="rect">
            <a:avLst/>
          </a:prstGeom>
          <a:solidFill>
            <a:srgbClr val="D4E8DC"/>
          </a:solidFill>
        </p:spPr>
      </p:sp>
      <p:sp>
        <p:nvSpPr>
          <p:cNvPr id="11" name="FooterText"/>
          <p:cNvSpPr/>
          <p:nvPr/>
        </p:nvSpPr>
        <p:spPr>
          <a:xfrm>
            <a:off x="750000" y="6400000"/>
            <a:ext cx="8000000" cy="30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950">
                <a:solidFill>
                  <a:srgbClr val="4D7A60"/>
                </a:solidFill>
              </a:rPr>
              <a:t>عرض استثماري سري — المنصة الوطنية للوكلاء الأذكياء</a:t>
            </a:r>
          </a:p>
        </p:txBody>
      </p:sp>
      <p:sp>
        <p:nvSpPr>
          <p:cNvPr id="12" name="SlideNum"/>
          <p:cNvSpPr/>
          <p:nvPr/>
        </p:nvSpPr>
        <p:spPr>
          <a:xfrm>
            <a:off x="10000000" y="6400000"/>
            <a:ext cx="1442000" cy="300000"/>
          </a:xfrm>
          <a:prstGeom prst="rect">
            <a:avLst/>
          </a:prstGeom>
        </p:spPr>
        <p:txBody>
          <a:bodyPr rtlCol="1" anchor="ctr"/>
          <a:p>
            <a:pPr algn="l" rtl="0"/>
            <a:r>
              <a:rPr lang="ar-SA" sz="950" b="1">
                <a:solidFill>
                  <a:srgbClr val="006C35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6"/>
          </a:solidFill>
        </p:spPr>
      </p:sp>
      <p:sp>
        <p:nvSpPr>
          <p:cNvPr id="3" name="HeaderBadge"/>
          <p:cNvSpPr/>
          <p:nvPr/>
        </p:nvSpPr>
        <p:spPr>
          <a:xfrm>
            <a:off x="750000" y="400000"/>
            <a:ext cx="4500000" cy="350000"/>
          </a:xfrm>
          <a:prstGeom prst="roundRect">
            <a:avLst>
              <a:gd name="adj" fmla="val 25000"/>
            </a:avLst>
          </a:prstGeom>
          <a:solidFill>
            <a:srgbClr val="EAF5EE"/>
          </a:solidFill>
          <a:ln w="9525">
            <a:solidFill>
              <a:srgbClr val="006C35"/>
            </a:solidFill>
          </a:ln>
        </p:spPr>
        <p:txBody>
          <a:bodyPr rtlCol="1" anchor="ctr"/>
          <a:p>
            <a:pPr algn="ctr" rtl="1"/>
            <a:r>
              <a:rPr lang="ar-SA" sz="1100" b="1">
                <a:solidFill>
                  <a:srgbClr val="006C35"/>
                </a:solidFill>
              </a:rPr>
              <a:t>حجم السوق والتوسع الاستراتيجي</a:t>
            </a:r>
          </a:p>
        </p:txBody>
      </p:sp>
      <p:sp>
        <p:nvSpPr>
          <p:cNvPr id="4" name="SlideTitle"/>
          <p:cNvSpPr/>
          <p:nvPr/>
        </p:nvSpPr>
        <p:spPr>
          <a:xfrm>
            <a:off x="750000" y="850000"/>
            <a:ext cx="10692000" cy="65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2000" b="1">
                <a:solidFill>
                  <a:srgbClr val="042210"/>
                </a:solidFill>
              </a:rPr>
              <a:t>فرصة السوق ومواءمة رؤية السعودية 2030</a:t>
            </a:r>
          </a:p>
        </p:txBody>
      </p:sp>
      <p:sp>
        <p:nvSpPr>
          <p:cNvPr id="5" name="ContentCard0"/>
          <p:cNvSpPr/>
          <p:nvPr/>
        </p:nvSpPr>
        <p:spPr>
          <a:xfrm>
            <a:off x="7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🇸🇦 حجم سوق تقنية المعلومات والـ AI في المملكة: يتجاوز 130+ مليار ريال سعودي (الأكبر في الشرق الأوسط).</a:t>
            </a:r>
          </a:p>
        </p:txBody>
      </p:sp>
      <p:sp>
        <p:nvSpPr>
          <p:cNvPr id="6" name="ContentCard1"/>
          <p:cNvSpPr/>
          <p:nvPr/>
        </p:nvSpPr>
        <p:spPr>
          <a:xfrm>
            <a:off x="61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🎯 رؤية 2030: التوافق مع مؤشرات نضج التجربة الرقمية الحكومية (مؤشر قياس) وبرامج التحول الوطني.</a:t>
            </a:r>
          </a:p>
        </p:txBody>
      </p:sp>
      <p:sp>
        <p:nvSpPr>
          <p:cNvPr id="7" name="ContentCard2"/>
          <p:cNvSpPr/>
          <p:nvPr/>
        </p:nvSpPr>
        <p:spPr>
          <a:xfrm>
            <a:off x="7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📈 حجم العملاء المؤهلين: أكثر من 100,000+ جهة حكومية، جامعة، مؤسسة كبرى، ومتجر نشط.</a:t>
            </a:r>
          </a:p>
        </p:txBody>
      </p:sp>
      <p:sp>
        <p:nvSpPr>
          <p:cNvPr id="8" name="ContentCard3"/>
          <p:cNvSpPr/>
          <p:nvPr/>
        </p:nvSpPr>
        <p:spPr>
          <a:xfrm>
            <a:off x="61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💰 خفض التكاليف: توفير متوقع بنسبة 60% في تكاليف الدعم ومراكز الاتصال مع رفع رضا المستفيدين لأكثر من 92%.</a:t>
            </a:r>
          </a:p>
        </p:txBody>
      </p:sp>
      <p:sp>
        <p:nvSpPr>
          <p:cNvPr id="9" name="FooterLine"/>
          <p:cNvSpPr/>
          <p:nvPr/>
        </p:nvSpPr>
        <p:spPr>
          <a:xfrm>
            <a:off x="750000" y="6350000"/>
            <a:ext cx="10692000" cy="20000"/>
          </a:xfrm>
          <a:prstGeom prst="rect">
            <a:avLst/>
          </a:prstGeom>
          <a:solidFill>
            <a:srgbClr val="D4E8DC"/>
          </a:solidFill>
        </p:spPr>
      </p:sp>
      <p:sp>
        <p:nvSpPr>
          <p:cNvPr id="10" name="FooterText"/>
          <p:cNvSpPr/>
          <p:nvPr/>
        </p:nvSpPr>
        <p:spPr>
          <a:xfrm>
            <a:off x="750000" y="6400000"/>
            <a:ext cx="8000000" cy="30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950">
                <a:solidFill>
                  <a:srgbClr val="4D7A60"/>
                </a:solidFill>
              </a:rPr>
              <a:t>عرض استثماري سري — المنصة الوطنية للوكلاء الأذكياء</a:t>
            </a:r>
          </a:p>
        </p:txBody>
      </p:sp>
      <p:sp>
        <p:nvSpPr>
          <p:cNvPr id="11" name="SlideNum"/>
          <p:cNvSpPr/>
          <p:nvPr/>
        </p:nvSpPr>
        <p:spPr>
          <a:xfrm>
            <a:off x="10000000" y="6400000"/>
            <a:ext cx="1442000" cy="300000"/>
          </a:xfrm>
          <a:prstGeom prst="rect">
            <a:avLst/>
          </a:prstGeom>
        </p:spPr>
        <p:txBody>
          <a:bodyPr rtlCol="1" anchor="ctr"/>
          <a:p>
            <a:pPr algn="l" rtl="0"/>
            <a:r>
              <a:rPr lang="ar-SA" sz="950" b="1">
                <a:solidFill>
                  <a:srgbClr val="006C35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6"/>
          </a:solidFill>
        </p:spPr>
      </p:sp>
      <p:sp>
        <p:nvSpPr>
          <p:cNvPr id="3" name="HeaderBadge"/>
          <p:cNvSpPr/>
          <p:nvPr/>
        </p:nvSpPr>
        <p:spPr>
          <a:xfrm>
            <a:off x="750000" y="400000"/>
            <a:ext cx="4500000" cy="350000"/>
          </a:xfrm>
          <a:prstGeom prst="roundRect">
            <a:avLst>
              <a:gd name="adj" fmla="val 25000"/>
            </a:avLst>
          </a:prstGeom>
          <a:solidFill>
            <a:srgbClr val="EAF5EE"/>
          </a:solidFill>
          <a:ln w="9525">
            <a:solidFill>
              <a:srgbClr val="006C35"/>
            </a:solidFill>
          </a:ln>
        </p:spPr>
        <p:txBody>
          <a:bodyPr rtlCol="1" anchor="ctr"/>
          <a:p>
            <a:pPr algn="ctr" rtl="1"/>
            <a:r>
              <a:rPr lang="ar-SA" sz="1100" b="1">
                <a:solidFill>
                  <a:srgbClr val="006C35"/>
                </a:solidFill>
              </a:rPr>
              <a:t>نموذج الأعمال B2G / B2B SaaS</a:t>
            </a:r>
          </a:p>
        </p:txBody>
      </p:sp>
      <p:sp>
        <p:nvSpPr>
          <p:cNvPr id="4" name="SlideTitle"/>
          <p:cNvSpPr/>
          <p:nvPr/>
        </p:nvSpPr>
        <p:spPr>
          <a:xfrm>
            <a:off x="750000" y="850000"/>
            <a:ext cx="10692000" cy="65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2000" b="1">
                <a:solidFill>
                  <a:srgbClr val="042210"/>
                </a:solidFill>
              </a:rPr>
              <a:t>نموذج العمل والإيرادات: اشتراكات سحابية وعقود مؤسسية</a:t>
            </a:r>
          </a:p>
        </p:txBody>
      </p:sp>
      <p:sp>
        <p:nvSpPr>
          <p:cNvPr id="5" name="ContentCard0"/>
          <p:cNvSpPr/>
          <p:nvPr/>
        </p:nvSpPr>
        <p:spPr>
          <a:xfrm>
            <a:off x="7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🏛️ الجهات الحكومية والجامعات (B2G): عقود تراخيص سنوية مخصصة (SLA) واستضافة سيادية محلية On-Premise.</a:t>
            </a:r>
          </a:p>
        </p:txBody>
      </p:sp>
      <p:sp>
        <p:nvSpPr>
          <p:cNvPr id="6" name="ContentCard1"/>
          <p:cNvSpPr/>
          <p:nvPr/>
        </p:nvSpPr>
        <p:spPr>
          <a:xfrm>
            <a:off x="61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🏢 الشركات الكبرى والبنوك (Enterprise B2B): اشتراكات سنوية مع ربط مباشر بقواعد البيانات ونماذج مخصصة.</a:t>
            </a:r>
          </a:p>
        </p:txBody>
      </p:sp>
      <p:sp>
        <p:nvSpPr>
          <p:cNvPr id="7" name="ContentCard2"/>
          <p:cNvSpPr/>
          <p:nvPr/>
        </p:nvSpPr>
        <p:spPr>
          <a:xfrm>
            <a:off x="7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🛍️ المتاجر والشركات المتوسطة (SME SaaS): باقات شهرية وسنوية سحابية مرنة (199 إلى 999 ر.س شهرياً).</a:t>
            </a:r>
          </a:p>
        </p:txBody>
      </p:sp>
      <p:sp>
        <p:nvSpPr>
          <p:cNvPr id="8" name="ContentCard3"/>
          <p:cNvSpPr/>
          <p:nvPr/>
        </p:nvSpPr>
        <p:spPr>
          <a:xfrm>
            <a:off x="61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💼 خدمات التطوير والتكامل: عقود استشارية وتكامل عميق مع كبرى شركات تكامل الأنظمة (System Integrators).</a:t>
            </a:r>
          </a:p>
        </p:txBody>
      </p:sp>
      <p:sp>
        <p:nvSpPr>
          <p:cNvPr id="9" name="FooterLine"/>
          <p:cNvSpPr/>
          <p:nvPr/>
        </p:nvSpPr>
        <p:spPr>
          <a:xfrm>
            <a:off x="750000" y="6350000"/>
            <a:ext cx="10692000" cy="20000"/>
          </a:xfrm>
          <a:prstGeom prst="rect">
            <a:avLst/>
          </a:prstGeom>
          <a:solidFill>
            <a:srgbClr val="D4E8DC"/>
          </a:solidFill>
        </p:spPr>
      </p:sp>
      <p:sp>
        <p:nvSpPr>
          <p:cNvPr id="10" name="FooterText"/>
          <p:cNvSpPr/>
          <p:nvPr/>
        </p:nvSpPr>
        <p:spPr>
          <a:xfrm>
            <a:off x="750000" y="6400000"/>
            <a:ext cx="8000000" cy="30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950">
                <a:solidFill>
                  <a:srgbClr val="4D7A60"/>
                </a:solidFill>
              </a:rPr>
              <a:t>عرض استثماري سري — المنصة الوطنية للوكلاء الأذكياء</a:t>
            </a:r>
          </a:p>
        </p:txBody>
      </p:sp>
      <p:sp>
        <p:nvSpPr>
          <p:cNvPr id="11" name="SlideNum"/>
          <p:cNvSpPr/>
          <p:nvPr/>
        </p:nvSpPr>
        <p:spPr>
          <a:xfrm>
            <a:off x="10000000" y="6400000"/>
            <a:ext cx="1442000" cy="300000"/>
          </a:xfrm>
          <a:prstGeom prst="rect">
            <a:avLst/>
          </a:prstGeom>
        </p:spPr>
        <p:txBody>
          <a:bodyPr rtlCol="1" anchor="ctr"/>
          <a:p>
            <a:pPr algn="l" rtl="0"/>
            <a:r>
              <a:rPr lang="ar-SA" sz="950" b="1">
                <a:solidFill>
                  <a:srgbClr val="006C35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6"/>
          </a:solidFill>
        </p:spPr>
      </p:sp>
      <p:sp>
        <p:nvSpPr>
          <p:cNvPr id="3" name="HeaderBadge"/>
          <p:cNvSpPr/>
          <p:nvPr/>
        </p:nvSpPr>
        <p:spPr>
          <a:xfrm>
            <a:off x="750000" y="400000"/>
            <a:ext cx="4500000" cy="350000"/>
          </a:xfrm>
          <a:prstGeom prst="roundRect">
            <a:avLst>
              <a:gd name="adj" fmla="val 25000"/>
            </a:avLst>
          </a:prstGeom>
          <a:solidFill>
            <a:srgbClr val="EAF5EE"/>
          </a:solidFill>
          <a:ln w="9525">
            <a:solidFill>
              <a:srgbClr val="006C35"/>
            </a:solidFill>
          </a:ln>
        </p:spPr>
        <p:txBody>
          <a:bodyPr rtlCol="1" anchor="ctr"/>
          <a:p>
            <a:pPr algn="ctr" rtl="1"/>
            <a:r>
              <a:rPr lang="ar-SA" sz="1100" b="1">
                <a:solidFill>
                  <a:srgbClr val="006C35"/>
                </a:solidFill>
              </a:rPr>
              <a:t>خطة التوسع والشراكات</a:t>
            </a:r>
          </a:p>
        </p:txBody>
      </p:sp>
      <p:sp>
        <p:nvSpPr>
          <p:cNvPr id="4" name="SlideTitle"/>
          <p:cNvSpPr/>
          <p:nvPr/>
        </p:nvSpPr>
        <p:spPr>
          <a:xfrm>
            <a:off x="750000" y="850000"/>
            <a:ext cx="10692000" cy="65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2000" b="1">
                <a:solidFill>
                  <a:srgbClr val="042210"/>
                </a:solidFill>
              </a:rPr>
              <a:t>استراتيجية الوصول للسوق والانتشار الوطني</a:t>
            </a:r>
          </a:p>
        </p:txBody>
      </p:sp>
      <p:sp>
        <p:nvSpPr>
          <p:cNvPr id="5" name="ContentCard0"/>
          <p:cNvSpPr/>
          <p:nvPr/>
        </p:nvSpPr>
        <p:spPr>
          <a:xfrm>
            <a:off x="7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🤝 الشراكات الحكومية: التعاون مع هيئة الحكومة الرقمية (DGA) وسدايا ومزودي السحابة الوطنية (STC, Oracle, Google).</a:t>
            </a:r>
          </a:p>
        </p:txBody>
      </p:sp>
      <p:sp>
        <p:nvSpPr>
          <p:cNvPr id="6" name="ContentCard1"/>
          <p:cNvSpPr/>
          <p:nvPr/>
        </p:nvSpPr>
        <p:spPr>
          <a:xfrm>
            <a:off x="6150000" y="165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🎓 المبادرات الأكاديمية: برامج تجريبية مع كبرى الجامعات (جامعة الملك سعود، البترول والمعادن) لخدمة شؤون الطلاب.</a:t>
            </a:r>
          </a:p>
        </p:txBody>
      </p:sp>
      <p:sp>
        <p:nvSpPr>
          <p:cNvPr id="7" name="ContentCard2"/>
          <p:cNvSpPr/>
          <p:nvPr/>
        </p:nvSpPr>
        <p:spPr>
          <a:xfrm>
            <a:off x="7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🔌 منظومة التجارة الإلكترونية: إطلاق تطبيق موثق في متجر تطبيقات سلة وزد للوصول لـ 50,000+ تاجر فوري.</a:t>
            </a:r>
          </a:p>
        </p:txBody>
      </p:sp>
      <p:sp>
        <p:nvSpPr>
          <p:cNvPr id="8" name="ContentCard3"/>
          <p:cNvSpPr/>
          <p:nvPr/>
        </p:nvSpPr>
        <p:spPr>
          <a:xfrm>
            <a:off x="6150000" y="4000000"/>
            <a:ext cx="5200000" cy="2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🌐 التوسع الخليجي: الانطلاق من الرياض نحو أسواق الإمارات، الكويت، قطر، وبقية دول الخليج.</a:t>
            </a:r>
          </a:p>
        </p:txBody>
      </p:sp>
      <p:sp>
        <p:nvSpPr>
          <p:cNvPr id="9" name="FooterLine"/>
          <p:cNvSpPr/>
          <p:nvPr/>
        </p:nvSpPr>
        <p:spPr>
          <a:xfrm>
            <a:off x="750000" y="6350000"/>
            <a:ext cx="10692000" cy="20000"/>
          </a:xfrm>
          <a:prstGeom prst="rect">
            <a:avLst/>
          </a:prstGeom>
          <a:solidFill>
            <a:srgbClr val="D4E8DC"/>
          </a:solidFill>
        </p:spPr>
      </p:sp>
      <p:sp>
        <p:nvSpPr>
          <p:cNvPr id="10" name="FooterText"/>
          <p:cNvSpPr/>
          <p:nvPr/>
        </p:nvSpPr>
        <p:spPr>
          <a:xfrm>
            <a:off x="750000" y="6400000"/>
            <a:ext cx="8000000" cy="30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950">
                <a:solidFill>
                  <a:srgbClr val="4D7A60"/>
                </a:solidFill>
              </a:rPr>
              <a:t>عرض استثماري سري — المنصة الوطنية للوكلاء الأذكياء</a:t>
            </a:r>
          </a:p>
        </p:txBody>
      </p:sp>
      <p:sp>
        <p:nvSpPr>
          <p:cNvPr id="11" name="SlideNum"/>
          <p:cNvSpPr/>
          <p:nvPr/>
        </p:nvSpPr>
        <p:spPr>
          <a:xfrm>
            <a:off x="10000000" y="6400000"/>
            <a:ext cx="1442000" cy="300000"/>
          </a:xfrm>
          <a:prstGeom prst="rect">
            <a:avLst/>
          </a:prstGeom>
        </p:spPr>
        <p:txBody>
          <a:bodyPr rtlCol="1" anchor="ctr"/>
          <a:p>
            <a:pPr algn="l" rtl="0"/>
            <a:r>
              <a:rPr lang="ar-SA" sz="950" b="1">
                <a:solidFill>
                  <a:srgbClr val="006C35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6"/>
          </a:solidFill>
        </p:spPr>
      </p:sp>
      <p:sp>
        <p:nvSpPr>
          <p:cNvPr id="3" name="HeaderBadge"/>
          <p:cNvSpPr/>
          <p:nvPr/>
        </p:nvSpPr>
        <p:spPr>
          <a:xfrm>
            <a:off x="750000" y="400000"/>
            <a:ext cx="4500000" cy="350000"/>
          </a:xfrm>
          <a:prstGeom prst="roundRect">
            <a:avLst>
              <a:gd name="adj" fmla="val 25000"/>
            </a:avLst>
          </a:prstGeom>
          <a:solidFill>
            <a:srgbClr val="EAF5EE"/>
          </a:solidFill>
          <a:ln w="9525">
            <a:solidFill>
              <a:srgbClr val="006C35"/>
            </a:solidFill>
          </a:ln>
        </p:spPr>
        <p:txBody>
          <a:bodyPr rtlCol="1" anchor="ctr"/>
          <a:p>
            <a:pPr algn="ctr" rtl="1"/>
            <a:r>
              <a:rPr lang="ar-SA" sz="1100" b="1">
                <a:solidFill>
                  <a:srgbClr val="006C35"/>
                </a:solidFill>
              </a:rPr>
              <a:t>المؤشرات المالية (Financial Plan)</a:t>
            </a:r>
          </a:p>
        </p:txBody>
      </p:sp>
      <p:sp>
        <p:nvSpPr>
          <p:cNvPr id="4" name="SlideTitle"/>
          <p:cNvSpPr/>
          <p:nvPr/>
        </p:nvSpPr>
        <p:spPr>
          <a:xfrm>
            <a:off x="750000" y="850000"/>
            <a:ext cx="10692000" cy="65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2000" b="1">
                <a:solidFill>
                  <a:srgbClr val="042210"/>
                </a:solidFill>
              </a:rPr>
              <a:t>التوقعات المالية وخطة النمو لـ 3 سنوات</a:t>
            </a:r>
          </a:p>
        </p:txBody>
      </p:sp>
      <p:sp>
        <p:nvSpPr>
          <p:cNvPr id="5" name="ContentCard0"/>
          <p:cNvSpPr/>
          <p:nvPr/>
        </p:nvSpPr>
        <p:spPr>
          <a:xfrm>
            <a:off x="750000" y="1650000"/>
            <a:ext cx="10692000" cy="1366666.66666666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📊 السنة الأولى: إيراد سنوي متكرر (ARR) 4.5 مليون ر.س — استقطاب 20 جهة كبرى و500 متجر.</a:t>
            </a:r>
          </a:p>
        </p:txBody>
      </p:sp>
      <p:sp>
        <p:nvSpPr>
          <p:cNvPr id="6" name="ContentCard1"/>
          <p:cNvSpPr/>
          <p:nvPr/>
        </p:nvSpPr>
        <p:spPr>
          <a:xfrm>
            <a:off x="750000" y="3183333.333333333"/>
            <a:ext cx="10692000" cy="1366666.66666666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📊 السنة الثانية: إيراد سنوي متكرر (ARR) 14.8 مليون ر.س — التوسع لـ 60 جهة و2,000 متجر وإطلاق المساعد الصوتي.</a:t>
            </a:r>
          </a:p>
        </p:txBody>
      </p:sp>
      <p:sp>
        <p:nvSpPr>
          <p:cNvPr id="7" name="ContentCard2"/>
          <p:cNvSpPr/>
          <p:nvPr/>
        </p:nvSpPr>
        <p:spPr>
          <a:xfrm>
            <a:off x="750000" y="4716666.666666666"/>
            <a:ext cx="10692000" cy="1366666.66666666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📊 السنة الثالثة: إيراد سنوي متكرر (ARR) 38.0 مليون ر.س — الوصول للريادة الإقليمية والربحية التامة.</a:t>
            </a:r>
          </a:p>
        </p:txBody>
      </p:sp>
      <p:sp>
        <p:nvSpPr>
          <p:cNvPr id="8" name="FooterLine"/>
          <p:cNvSpPr/>
          <p:nvPr/>
        </p:nvSpPr>
        <p:spPr>
          <a:xfrm>
            <a:off x="750000" y="6350000"/>
            <a:ext cx="10692000" cy="20000"/>
          </a:xfrm>
          <a:prstGeom prst="rect">
            <a:avLst/>
          </a:prstGeom>
          <a:solidFill>
            <a:srgbClr val="D4E8DC"/>
          </a:solidFill>
        </p:spPr>
      </p:sp>
      <p:sp>
        <p:nvSpPr>
          <p:cNvPr id="9" name="FooterText"/>
          <p:cNvSpPr/>
          <p:nvPr/>
        </p:nvSpPr>
        <p:spPr>
          <a:xfrm>
            <a:off x="750000" y="6400000"/>
            <a:ext cx="8000000" cy="30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950">
                <a:solidFill>
                  <a:srgbClr val="4D7A60"/>
                </a:solidFill>
              </a:rPr>
              <a:t>عرض استثماري سري — المنصة الوطنية للوكلاء الأذكياء</a:t>
            </a:r>
          </a:p>
        </p:txBody>
      </p:sp>
      <p:sp>
        <p:nvSpPr>
          <p:cNvPr id="10" name="SlideNum"/>
          <p:cNvSpPr/>
          <p:nvPr/>
        </p:nvSpPr>
        <p:spPr>
          <a:xfrm>
            <a:off x="10000000" y="6400000"/>
            <a:ext cx="1442000" cy="300000"/>
          </a:xfrm>
          <a:prstGeom prst="rect">
            <a:avLst/>
          </a:prstGeom>
        </p:spPr>
        <p:txBody>
          <a:bodyPr rtlCol="1" anchor="ctr"/>
          <a:p>
            <a:pPr algn="l" rtl="0"/>
            <a:r>
              <a:rPr lang="ar-SA" sz="950" b="1">
                <a:solidFill>
                  <a:srgbClr val="006C35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6"/>
          </a:solidFill>
        </p:spPr>
      </p:sp>
      <p:sp>
        <p:nvSpPr>
          <p:cNvPr id="3" name="HeaderBadge"/>
          <p:cNvSpPr/>
          <p:nvPr/>
        </p:nvSpPr>
        <p:spPr>
          <a:xfrm>
            <a:off x="750000" y="400000"/>
            <a:ext cx="4500000" cy="350000"/>
          </a:xfrm>
          <a:prstGeom prst="roundRect">
            <a:avLst>
              <a:gd name="adj" fmla="val 25000"/>
            </a:avLst>
          </a:prstGeom>
          <a:solidFill>
            <a:srgbClr val="EAF5EE"/>
          </a:solidFill>
          <a:ln w="9525">
            <a:solidFill>
              <a:srgbClr val="006C35"/>
            </a:solidFill>
          </a:ln>
        </p:spPr>
        <p:txBody>
          <a:bodyPr rtlCol="1" anchor="ctr"/>
          <a:p>
            <a:pPr algn="ctr" rtl="1"/>
            <a:r>
              <a:rPr lang="ar-SA" sz="1100" b="1">
                <a:solidFill>
                  <a:srgbClr val="006C35"/>
                </a:solidFill>
              </a:rPr>
              <a:t>الاستثمار وتوزيع رأس المال</a:t>
            </a:r>
          </a:p>
        </p:txBody>
      </p:sp>
      <p:sp>
        <p:nvSpPr>
          <p:cNvPr id="4" name="SlideTitle"/>
          <p:cNvSpPr/>
          <p:nvPr/>
        </p:nvSpPr>
        <p:spPr>
          <a:xfrm>
            <a:off x="750000" y="850000"/>
            <a:ext cx="10692000" cy="65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2000" b="1">
                <a:solidFill>
                  <a:srgbClr val="042210"/>
                </a:solidFill>
              </a:rPr>
              <a:t>الطلب الاستثماري: جولة استثمارية (Seed Round)</a:t>
            </a:r>
          </a:p>
        </p:txBody>
      </p:sp>
      <p:sp>
        <p:nvSpPr>
          <p:cNvPr id="5" name="ContentCard0"/>
          <p:cNvSpPr/>
          <p:nvPr/>
        </p:nvSpPr>
        <p:spPr>
          <a:xfrm>
            <a:off x="750000" y="1650000"/>
            <a:ext cx="10692000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🎯 المبلغ المستهدف: 5,000,000 ريال سعودي (Seed Investment Round).</a:t>
            </a:r>
          </a:p>
        </p:txBody>
      </p:sp>
      <p:sp>
        <p:nvSpPr>
          <p:cNvPr id="6" name="ContentCard1"/>
          <p:cNvSpPr/>
          <p:nvPr/>
        </p:nvSpPr>
        <p:spPr>
          <a:xfrm>
            <a:off x="750000" y="2570000"/>
            <a:ext cx="10692000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💼 40% المبيعات والشراكات: بناء فريق مبيعات حكومي ومؤسسي متخصص وتوسيع شبكة الشركاء.</a:t>
            </a:r>
          </a:p>
        </p:txBody>
      </p:sp>
      <p:sp>
        <p:nvSpPr>
          <p:cNvPr id="7" name="ContentCard2"/>
          <p:cNvSpPr/>
          <p:nvPr/>
        </p:nvSpPr>
        <p:spPr>
          <a:xfrm>
            <a:off x="750000" y="3490000"/>
            <a:ext cx="10692000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🤖 35% البحث والتطوير: تدريب نماذج لغوية سيادية وتطوير الوكلاء الصوتيين التفاعليين (Voice Agents).</a:t>
            </a:r>
          </a:p>
        </p:txBody>
      </p:sp>
      <p:sp>
        <p:nvSpPr>
          <p:cNvPr id="8" name="ContentCard3"/>
          <p:cNvSpPr/>
          <p:nvPr/>
        </p:nvSpPr>
        <p:spPr>
          <a:xfrm>
            <a:off x="750000" y="4410000"/>
            <a:ext cx="10692000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🛡️ 15% البنية التحتية والأمن: خوادم سحابية سيادية وشهادات الامتثال والأمن السيبراني.</a:t>
            </a:r>
          </a:p>
        </p:txBody>
      </p:sp>
      <p:sp>
        <p:nvSpPr>
          <p:cNvPr id="9" name="ContentCard4"/>
          <p:cNvSpPr/>
          <p:nvPr/>
        </p:nvSpPr>
        <p:spPr>
          <a:xfrm>
            <a:off x="750000" y="5330000"/>
            <a:ext cx="10692000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8DC"/>
            </a:solidFill>
          </a:ln>
        </p:spPr>
        <p:txBody>
          <a:bodyPr rtlCol="1" anchor="ctr" lIns="200000" rIns="200000" tIns="150000" bIns="150000"/>
          <a:p>
            <a:pPr algn="r" rtl="1"/>
            <a:r>
              <a:rPr lang="ar-SA" sz="1350" b="1">
                <a:solidFill>
                  <a:srgbClr val="006C35"/>
                </a:solidFill>
              </a:rPr>
              <a:t>⚖️ 10% العمليات والامتثال القانوني والتراخيص.</a:t>
            </a:r>
          </a:p>
        </p:txBody>
      </p:sp>
      <p:sp>
        <p:nvSpPr>
          <p:cNvPr id="10" name="FooterLine"/>
          <p:cNvSpPr/>
          <p:nvPr/>
        </p:nvSpPr>
        <p:spPr>
          <a:xfrm>
            <a:off x="750000" y="6350000"/>
            <a:ext cx="10692000" cy="20000"/>
          </a:xfrm>
          <a:prstGeom prst="rect">
            <a:avLst/>
          </a:prstGeom>
          <a:solidFill>
            <a:srgbClr val="D4E8DC"/>
          </a:solidFill>
        </p:spPr>
      </p:sp>
      <p:sp>
        <p:nvSpPr>
          <p:cNvPr id="11" name="FooterText"/>
          <p:cNvSpPr/>
          <p:nvPr/>
        </p:nvSpPr>
        <p:spPr>
          <a:xfrm>
            <a:off x="750000" y="6400000"/>
            <a:ext cx="8000000" cy="300000"/>
          </a:xfrm>
          <a:prstGeom prst="rect">
            <a:avLst/>
          </a:prstGeom>
        </p:spPr>
        <p:txBody>
          <a:bodyPr rtlCol="1" anchor="ctr"/>
          <a:p>
            <a:pPr algn="r" rtl="1"/>
            <a:r>
              <a:rPr lang="ar-SA" sz="950">
                <a:solidFill>
                  <a:srgbClr val="4D7A60"/>
                </a:solidFill>
              </a:rPr>
              <a:t>عرض استثماري سري — المنصة الوطنية للوكلاء الأذكياء</a:t>
            </a:r>
          </a:p>
        </p:txBody>
      </p:sp>
      <p:sp>
        <p:nvSpPr>
          <p:cNvPr id="12" name="SlideNum"/>
          <p:cNvSpPr/>
          <p:nvPr/>
        </p:nvSpPr>
        <p:spPr>
          <a:xfrm>
            <a:off x="10000000" y="6400000"/>
            <a:ext cx="1442000" cy="300000"/>
          </a:xfrm>
          <a:prstGeom prst="rect">
            <a:avLst/>
          </a:prstGeom>
        </p:spPr>
        <p:txBody>
          <a:bodyPr rtlCol="1" anchor="ctr"/>
          <a:p>
            <a:pPr algn="l" rtl="0"/>
            <a:r>
              <a:rPr lang="ar-SA" sz="950" b="1">
                <a:solidFill>
                  <a:srgbClr val="006C35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officeDocument/2006/presentation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D25"/>
          </a:solidFill>
        </p:spPr>
      </p:sp>
      <p:sp>
        <p:nvSpPr>
          <p:cNvPr id="3" name="Gold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" name="CoverTag"/>
          <p:cNvSpPr/>
          <p:nvPr/>
        </p:nvSpPr>
        <p:spPr>
          <a:xfrm>
            <a:off x="3000000" y="800000"/>
            <a:ext cx="6192000" cy="450000"/>
          </a:xfrm>
          <a:prstGeom prst="roundRect">
            <a:avLst>
              <a:gd name="adj" fmla="val 25000"/>
            </a:avLst>
          </a:prstGeom>
          <a:solidFill>
            <a:srgbClr val="00361A"/>
          </a:solidFill>
          <a:ln w="12700">
            <a:solidFill>
              <a:srgbClr val="D4AF37"/>
            </a:solidFill>
          </a:ln>
        </p:spPr>
        <p:txBody>
          <a:bodyPr rtlCol="1" anchor="ctr"/>
          <a:p>
            <a:pPr algn="ctr" rtl="1"/>
            <a:r>
              <a:rPr lang="ar-SA" sz="1300" b="1">
                <a:solidFill>
                  <a:srgbClr val="D4AF37"/>
                </a:solidFill>
              </a:rPr>
              <a:t>دعوة للاستثمار والشراكة الاستراتيجية</a:t>
            </a:r>
          </a:p>
        </p:txBody>
      </p:sp>
      <p:sp>
        <p:nvSpPr>
          <p:cNvPr id="5" name="CoverTitle"/>
          <p:cNvSpPr/>
          <p:nvPr/>
        </p:nvSpPr>
        <p:spPr>
          <a:xfrm>
            <a:off x="800000" y="1500000"/>
            <a:ext cx="10592000" cy="1200000"/>
          </a:xfrm>
          <a:prstGeom prst="rect">
            <a:avLst/>
          </a:prstGeom>
        </p:spPr>
        <p:txBody>
          <a:bodyPr rtlCol="1" anchor="ctr"/>
          <a:p>
            <a:pPr algn="ctr" rtl="1"/>
            <a:r>
              <a:rPr lang="ar-SA" sz="3200" b="1">
                <a:solidFill>
                  <a:srgbClr val="FFFFFF"/>
                </a:solidFill>
              </a:rPr>
              <a:t>«نبني العقل الرقمي الذكي لكل بوابة، جامعة، ومؤسسة في المملكة»</a:t>
            </a:r>
          </a:p>
        </p:txBody>
      </p:sp>
      <p:sp>
        <p:nvSpPr>
          <p:cNvPr id="6" name="CoverSubtitle"/>
          <p:cNvSpPr/>
          <p:nvPr/>
        </p:nvSpPr>
        <p:spPr>
          <a:xfrm>
            <a:off x="1000000" y="2700000"/>
            <a:ext cx="10192000" cy="800000"/>
          </a:xfrm>
          <a:prstGeom prst="rect">
            <a:avLst/>
          </a:prstGeom>
        </p:spPr>
        <p:txBody>
          <a:bodyPr rtlCol="1" anchor="ctr"/>
          <a:p>
            <a:pPr algn="ctr" rtl="1"/>
            <a:r>
              <a:rPr lang="ar-SA" sz="1600">
                <a:solidFill>
                  <a:srgbClr val="C5E0CF"/>
                </a:solidFill>
              </a:rPr>
              <a:t>انضموا إلينا في قيادة الجيل القادم من الذكاء الاصطناعي والتفاعل الرقمي في المملكة العربية السعودية</a:t>
            </a:r>
          </a:p>
        </p:txBody>
      </p:sp>
      <p:sp>
        <p:nvSpPr>
          <p:cNvPr id="7" name="CoverCard0"/>
          <p:cNvSpPr/>
          <p:nvPr/>
        </p:nvSpPr>
        <p:spPr>
          <a:xfrm>
            <a:off x="1000000" y="3800000"/>
            <a:ext cx="2400000" cy="2000000"/>
          </a:xfrm>
          <a:prstGeom prst="roundRect">
            <a:avLst>
              <a:gd name="adj" fmla="val 15000"/>
            </a:avLst>
          </a:prstGeom>
          <a:solidFill>
            <a:srgbClr val="005A2B"/>
          </a:solidFill>
          <a:ln w="12700">
            <a:solidFill>
              <a:srgbClr val="0A8244"/>
            </a:solidFill>
          </a:ln>
        </p:spPr>
        <p:txBody>
          <a:bodyPr rtlCol="1" anchor="ctr"/>
          <a:p>
            <a:pPr algn="ctr" rtl="1"/>
            <a:r>
              <a:rPr lang="ar-SA" sz="1300" b="1">
                <a:solidFill>
                  <a:srgbClr val="FFFFFF"/>
                </a:solidFill>
              </a:rPr>
              <a:t>📧 البريد الإلكتروني: contact@ai-platform.sa</a:t>
            </a:r>
          </a:p>
        </p:txBody>
      </p:sp>
      <p:sp>
        <p:nvSpPr>
          <p:cNvPr id="8" name="CoverCard1"/>
          <p:cNvSpPr/>
          <p:nvPr/>
        </p:nvSpPr>
        <p:spPr>
          <a:xfrm>
            <a:off x="3600000" y="3800000"/>
            <a:ext cx="2400000" cy="2000000"/>
          </a:xfrm>
          <a:prstGeom prst="roundRect">
            <a:avLst>
              <a:gd name="adj" fmla="val 15000"/>
            </a:avLst>
          </a:prstGeom>
          <a:solidFill>
            <a:srgbClr val="005A2B"/>
          </a:solidFill>
          <a:ln w="12700">
            <a:solidFill>
              <a:srgbClr val="0A8244"/>
            </a:solidFill>
          </a:ln>
        </p:spPr>
        <p:txBody>
          <a:bodyPr rtlCol="1" anchor="ctr"/>
          <a:p>
            <a:pPr algn="ctr" rtl="1"/>
            <a:r>
              <a:rPr lang="ar-SA" sz="1300" b="1">
                <a:solidFill>
                  <a:srgbClr val="FFFFFF"/>
                </a:solidFill>
              </a:rPr>
              <a:t>📱 الجوال: +966 5X XXX XXXX</a:t>
            </a:r>
          </a:p>
        </p:txBody>
      </p:sp>
      <p:sp>
        <p:nvSpPr>
          <p:cNvPr id="9" name="CoverCard2"/>
          <p:cNvSpPr/>
          <p:nvPr/>
        </p:nvSpPr>
        <p:spPr>
          <a:xfrm>
            <a:off x="6200000" y="3800000"/>
            <a:ext cx="2400000" cy="2000000"/>
          </a:xfrm>
          <a:prstGeom prst="roundRect">
            <a:avLst>
              <a:gd name="adj" fmla="val 15000"/>
            </a:avLst>
          </a:prstGeom>
          <a:solidFill>
            <a:srgbClr val="005A2B"/>
          </a:solidFill>
          <a:ln w="12700">
            <a:solidFill>
              <a:srgbClr val="0A8244"/>
            </a:solidFill>
          </a:ln>
        </p:spPr>
        <p:txBody>
          <a:bodyPr rtlCol="1" anchor="ctr"/>
          <a:p>
            <a:pPr algn="ctr" rtl="1"/>
            <a:r>
              <a:rPr lang="ar-SA" sz="1300" b="1">
                <a:solidFill>
                  <a:srgbClr val="FFFFFF"/>
                </a:solidFill>
              </a:rPr>
              <a:t>🌐 النسخة الحية للتجربة (Live Demo): http://localhost:5173</a:t>
            </a:r>
          </a:p>
        </p:txBody>
      </p:sp>
      <p:sp>
        <p:nvSpPr>
          <p:cNvPr id="10" name="CoverCard3"/>
          <p:cNvSpPr/>
          <p:nvPr/>
        </p:nvSpPr>
        <p:spPr>
          <a:xfrm>
            <a:off x="8800000" y="3800000"/>
            <a:ext cx="2400000" cy="2000000"/>
          </a:xfrm>
          <a:prstGeom prst="roundRect">
            <a:avLst>
              <a:gd name="adj" fmla="val 15000"/>
            </a:avLst>
          </a:prstGeom>
          <a:solidFill>
            <a:srgbClr val="005A2B"/>
          </a:solidFill>
          <a:ln w="12700">
            <a:solidFill>
              <a:srgbClr val="0A8244"/>
            </a:solidFill>
          </a:ln>
        </p:spPr>
        <p:txBody>
          <a:bodyPr rtlCol="1" anchor="ctr"/>
          <a:p>
            <a:pPr algn="ctr" rtl="1"/>
            <a:r>
              <a:rPr lang="ar-SA" sz="1300" b="1">
                <a:solidFill>
                  <a:srgbClr val="FFFFFF"/>
                </a:solidFill>
              </a:rPr>
              <a:t>📍 الرياض، المملكة العربية السعودية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udi Green Theme">
  <a:themeElements>
    <a:clrScheme name="SaudiSovereign">
      <a:dk1>
        <a:srgbClr val="042210"/>
      </a:dk1>
      <a:lt1>
        <a:srgbClr val="FFFFFF"/>
      </a:lt1>
      <a:dk2>
        <a:srgbClr val="004D25"/>
      </a:dk2>
      <a:lt2>
        <a:srgbClr val="F4FAF6"/>
      </a:lt2>
      <a:accent1>
        <a:srgbClr val="006C35"/>
      </a:accent1>
      <a:accent2>
        <a:srgbClr val="0A8244"/>
      </a:accent2>
      <a:accent3>
        <a:srgbClr val="D4AF37"/>
      </a:accent3>
      <a:accent4>
        <a:srgbClr val="1A9A52"/>
      </a:accent4>
      <a:accent5>
        <a:srgbClr val="4ECF7A"/>
      </a:accent5>
      <a:accent6>
        <a:srgbClr val="8FBFA3"/>
      </a:accent6>
      <a:hlink>
        <a:srgbClr val="006C35"/>
      </a:hlink>
      <a:folHlink>
        <a:srgbClr val="0A8244"/>
      </a:folHlink>
    </a:clrScheme>
    <a:fontScheme name="ModernArabic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Macintosh PowerPoint</Application>
  <PresentationFormat>Widescreen</PresentationFormat>
  <Paragraphs>60</Paragraphs>
  <Slides>12</Slides>
  <Company>Saudi AI Platform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Saudi Sovereign AI Platform — Pitch Deck</dc:title>
  <dc:creator>Antigravity</dc:creator>
  <cp:lastModifiedBy>Antigravity</cp:lastModifiedBy>
  <dcterms:created xsi:type="dcterms:W3CDTF">2026-08-17T00:00:00Z</dcterms:created>
  <dcterms:modified xsi:type="dcterms:W3CDTF">2026-08-17T00:00:00Z</dcterms:modified>
</cp:coreProperties>
</file>